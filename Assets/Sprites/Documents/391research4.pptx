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57" r:id="rId5"/>
    <p:sldId id="260" r:id="rId6"/>
    <p:sldId id="268" r:id="rId7"/>
    <p:sldId id="272" r:id="rId8"/>
    <p:sldId id="274" r:id="rId9"/>
    <p:sldId id="273" r:id="rId10"/>
    <p:sldId id="275" r:id="rId11"/>
    <p:sldId id="264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59C856-59D1-416E-8BE7-84CAF26B037B}" v="23" dt="2026-03-13T18:46:59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8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607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F89AF-8DFB-6230-2066-6ABE756C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B9E5C-830F-B849-9EE5-5E5AF61F5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4B0B2-162A-F1E9-F360-885D21803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9693A-ED5D-D020-80D3-AD5257D417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1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CAA9-82BD-0588-8671-5350BC7A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A862D-957F-D429-FA7A-D44B66908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6D088-4D1C-507F-41F9-B0C3DE01D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481FB-055A-0E1B-2732-72FFEC5B8D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45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9BE53-97F0-02C6-CB67-048413DE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49ADF-1F0C-8E60-4CBF-2D3A5039F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8E8057-8EEA-ACF4-9CFF-5C6A39F30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EE24E-CF21-EDE9-F43B-2D5229A58E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54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D1FD7-B55E-90BA-FDB5-63CEB0122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A287C-5762-7EE5-1206-FEC96C348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A07F6-4601-A47A-7FDA-28FBB6BA5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B6FD8-63C7-B090-9F04-2029E65C78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21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48C4A-DDA0-F463-6CA6-E3A66FB8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EA6FF-EA3A-8E1E-ADC8-DDD1C8CBA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3911D-E992-8791-C305-95EC58932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A0CFD-5AC9-0A8A-49C7-4FE535C1A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Eventually Consistent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vs Availability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Zain and Marek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0021" y="4206240"/>
            <a:ext cx="1371600" cy="7315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943600" y="731520"/>
            <a:ext cx="109728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223760" y="731520"/>
            <a:ext cx="731520" cy="7315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5669280" y="1828800"/>
            <a:ext cx="822960" cy="12801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675120" y="1645920"/>
            <a:ext cx="128016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914400" cy="10972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7315200" y="2651760"/>
            <a:ext cx="1097280" cy="8229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5760720" y="3291840"/>
            <a:ext cx="73152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858000" y="3657600"/>
            <a:ext cx="1371600" cy="91440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7772400" y="1371600"/>
            <a:ext cx="731520" cy="10972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9401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CAP</a:t>
            </a:r>
            <a:endParaRPr lang="en-US" sz="4000" dirty="0"/>
          </a:p>
          <a:p>
            <a:pPr marL="0" indent="0">
              <a:buNone/>
            </a:pPr>
            <a:r>
              <a:rPr lang="en-US" sz="40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Theorem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87662" y="341925"/>
            <a:ext cx="73152" cy="16459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097279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8" name="Text 6"/>
          <p:cNvSpPr/>
          <p:nvPr/>
        </p:nvSpPr>
        <p:spPr>
          <a:xfrm>
            <a:off x="4389120" y="109727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931920" y="594359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999231"/>
            <a:ext cx="731520" cy="731520"/>
          </a:xfrm>
          <a:prstGeom prst="ellipse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200400" y="29992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34640" y="3776471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2999231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577840" y="2999231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20640" y="3776471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3931920" y="1828799"/>
            <a:ext cx="822960" cy="1444751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754880" y="1828799"/>
            <a:ext cx="822960" cy="1444752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3931920" y="3273551"/>
            <a:ext cx="164592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choose which property to sacrifice based on your application needs.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 Tradeoffs in Practice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2560320" cy="6400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+ Partition Tolerance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Sacrifices: Availability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network partitions occur, system may reject writes to maintain consistency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MongoDB, HBase, Redis Cluster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560320" cy="6400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47472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Systems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+ Partition Tolerance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Sacrifices: Consistency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stays available, but reads may return stale data temporarily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Cassandra, DynamoDB, CouchDB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6355080" y="1097280"/>
            <a:ext cx="2560320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35508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Systems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+ Availability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Sacrifices: Partition Tolerance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works when network is reliable (single node or LAN)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RDBMS (single node PostgreSQL, MySQL)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4C3B4D-7FCD-D79E-0E21-CCE073182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Scale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systems like Amazon: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be inconsistent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be unavailable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go down from network issues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a billion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common when processing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651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TRILLIONS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requests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840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events happen constantly at scale.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design for them upfront.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10A37C-402F-0C3C-5A68-BD9C7D4E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Consistency Models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91440" cy="11887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Consistency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 update completes, any subsequent read by any process returns the updated value. Everyone sees the same data immediately.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91440" cy="11887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Consistency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does not guarantee subsequent reads return the updated value. Certain conditions must be met 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28016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91440" cy="12801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 Consistency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(Our Focus)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All replicas will eventually converge to the same value, provided no new updates are made. Prioritizes high availability and low latency over immediate, absolute data accuracy, allowing for temporary, short-lived inconsistencies across nodes.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DE3694E-F7D3-C99F-1312-5ABF85730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"Eventual Consistency"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"consistency later" actually mean?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7680960" cy="0"/>
          </a:xfrm>
          <a:prstGeom prst="line">
            <a:avLst/>
          </a:prstGeom>
          <a:noFill/>
          <a:ln w="254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188720" y="22860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adds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“Green Jacket"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331720"/>
            <a:ext cx="3200400" cy="274320"/>
          </a:xfrm>
          <a:prstGeom prst="rect">
            <a:avLst/>
          </a:prstGeom>
          <a:solidFill>
            <a:srgbClr val="FFECB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Inconsistency Window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7843" y="229743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users might not see the jacket yet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2286000"/>
            <a:ext cx="365760" cy="365760"/>
          </a:xfrm>
          <a:prstGeom prst="ellipse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centers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syncing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331720"/>
            <a:ext cx="21031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Everyone sees “Green Jacket"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19" name="Text 17"/>
          <p:cNvSpPr/>
          <p:nvPr/>
        </p:nvSpPr>
        <p:spPr>
          <a:xfrm>
            <a:off x="359764" y="391055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 to cart button never fails, the data eventually becomes consistent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2517" y="2331720"/>
            <a:ext cx="1726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Eventually Consistent 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D89F8-FE70-02DE-49AE-3090D0C83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B80DB0-F4F2-2C36-BE59-C6538019B366}"/>
              </a:ext>
            </a:extLst>
          </p:cNvPr>
          <p:cNvSpPr/>
          <p:nvPr/>
        </p:nvSpPr>
        <p:spPr>
          <a:xfrm>
            <a:off x="563880" y="23774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sz="800" b="1" dirty="0"/>
              <a:t>SLIDE 7: "Choosing Your Model"</a:t>
            </a:r>
          </a:p>
          <a:p>
            <a:r>
              <a:rPr lang="en-CA" sz="800" b="1" dirty="0"/>
              <a:t>Title:</a:t>
            </a:r>
            <a:r>
              <a:rPr lang="en-CA" sz="800" dirty="0"/>
              <a:t> Choosing Your Model</a:t>
            </a:r>
          </a:p>
          <a:p>
            <a:r>
              <a:rPr lang="en-CA" sz="800" b="1" dirty="0"/>
              <a:t>Flowchart:</a:t>
            </a:r>
            <a:endParaRPr lang="en-CA" sz="800" dirty="0"/>
          </a:p>
          <a:p>
            <a:r>
              <a:rPr lang="en-CA" sz="800" dirty="0"/>
              <a:t>┌─────────────────────────────────────────────────────┐</a:t>
            </a:r>
          </a:p>
          <a:p>
            <a:r>
              <a:rPr lang="en-CA" sz="800" dirty="0"/>
              <a:t>│   Can your users tolerate briefly stale data?       │</a:t>
            </a:r>
          </a:p>
          <a:p>
            <a:r>
              <a:rPr lang="en-CA" sz="800" dirty="0"/>
              <a:t>└───────────────────────┬─────────────────────────────┘</a:t>
            </a:r>
          </a:p>
          <a:p>
            <a:r>
              <a:rPr lang="en-CA" sz="800" dirty="0"/>
              <a:t>                        │</a:t>
            </a:r>
          </a:p>
          <a:p>
            <a:r>
              <a:rPr lang="en-CA" sz="800" dirty="0"/>
              <a:t>            ┌───────────┴───────────┐</a:t>
            </a:r>
          </a:p>
          <a:p>
            <a:r>
              <a:rPr lang="en-CA" sz="800" dirty="0"/>
              <a:t>            ▼                       ▼</a:t>
            </a:r>
          </a:p>
          <a:p>
            <a:r>
              <a:rPr lang="en-CA" sz="800" dirty="0"/>
              <a:t>          YES                      NO</a:t>
            </a:r>
          </a:p>
          <a:p>
            <a:r>
              <a:rPr lang="en-CA" sz="800" dirty="0"/>
              <a:t>            │                       │</a:t>
            </a:r>
          </a:p>
          <a:p>
            <a:r>
              <a:rPr lang="en-CA" sz="800" dirty="0"/>
              <a:t>            ▼                       ▼</a:t>
            </a:r>
          </a:p>
          <a:p>
            <a:r>
              <a:rPr lang="en-CA" sz="800" dirty="0"/>
              <a:t>┌───────────────────────┐  ┌───────────────────────────────┐</a:t>
            </a:r>
          </a:p>
          <a:p>
            <a:r>
              <a:rPr lang="en-CA" sz="800" dirty="0"/>
              <a:t>│ Eventual Consistency  │  │ Can your users tolerate       │</a:t>
            </a:r>
          </a:p>
          <a:p>
            <a:r>
              <a:rPr lang="en-CA" sz="800" dirty="0"/>
              <a:t>│        (AP)           │  │ failed or slow requests?      │</a:t>
            </a:r>
          </a:p>
          <a:p>
            <a:r>
              <a:rPr lang="en-CA" sz="800" dirty="0"/>
              <a:t>│                       │  └───────────────┬───────────────┘</a:t>
            </a:r>
          </a:p>
          <a:p>
            <a:r>
              <a:rPr lang="en-CA" sz="800" dirty="0"/>
              <a:t>│ • Shopping cart       │          ┌───────┴───────┐</a:t>
            </a:r>
          </a:p>
          <a:p>
            <a:r>
              <a:rPr lang="en-CA" sz="800" dirty="0"/>
              <a:t>│ • Social media likes  │          ▼               ▼</a:t>
            </a:r>
          </a:p>
          <a:p>
            <a:r>
              <a:rPr lang="en-CA" sz="800" dirty="0"/>
              <a:t>│ • View counts         │        YES              NO</a:t>
            </a:r>
          </a:p>
          <a:p>
            <a:r>
              <a:rPr lang="en-CA" sz="800" dirty="0"/>
              <a:t>│ • Recommendations     │          │               │</a:t>
            </a:r>
          </a:p>
          <a:p>
            <a:r>
              <a:rPr lang="en-CA" sz="800" dirty="0"/>
              <a:t>└───────────────────────┘          ▼               ▼</a:t>
            </a:r>
          </a:p>
          <a:p>
            <a:r>
              <a:rPr lang="en-CA" sz="800" dirty="0"/>
              <a:t>                        ┌─────────────────┐  ┌─────────────┐</a:t>
            </a:r>
          </a:p>
          <a:p>
            <a:r>
              <a:rPr lang="en-CA" sz="800" dirty="0"/>
              <a:t>                        │Strong Consistency│  │ Rethink your│</a:t>
            </a:r>
          </a:p>
          <a:p>
            <a:r>
              <a:rPr lang="en-CA" sz="800" dirty="0"/>
              <a:t>                        │      (CP)        │  │ architecture│</a:t>
            </a:r>
          </a:p>
          <a:p>
            <a:r>
              <a:rPr lang="en-CA" sz="800" dirty="0"/>
              <a:t>                        │                  │  └─────────────┘</a:t>
            </a:r>
          </a:p>
          <a:p>
            <a:r>
              <a:rPr lang="en-CA" sz="800" dirty="0"/>
              <a:t>                        │ • Bank transfers │</a:t>
            </a:r>
          </a:p>
          <a:p>
            <a:r>
              <a:rPr lang="en-CA" sz="800" dirty="0"/>
              <a:t>                        │ • Inventory      │</a:t>
            </a:r>
          </a:p>
          <a:p>
            <a:r>
              <a:rPr lang="en-CA" sz="800" dirty="0"/>
              <a:t>                        │ • Seat bookings  │</a:t>
            </a:r>
          </a:p>
          <a:p>
            <a:r>
              <a:rPr lang="en-CA" sz="800" dirty="0"/>
              <a:t>                        └─────────────────┘</a:t>
            </a:r>
          </a:p>
          <a:p>
            <a:br>
              <a:rPr lang="en-CA" sz="800" dirty="0"/>
            </a:br>
            <a:r>
              <a:rPr lang="en-CA" sz="800" b="1" dirty="0"/>
              <a:t>Bottom bar:</a:t>
            </a:r>
            <a:r>
              <a:rPr lang="en-CA" sz="800" dirty="0"/>
              <a:t> "There's no 'best' choice — only the right choice for your use case."</a:t>
            </a:r>
            <a:endParaRPr lang="en-US" sz="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4979C23-F6C7-DDF8-41B1-2210A4C475EC}"/>
              </a:ext>
            </a:extLst>
          </p:cNvPr>
          <p:cNvSpPr/>
          <p:nvPr/>
        </p:nvSpPr>
        <p:spPr>
          <a:xfrm>
            <a:off x="287662" y="341925"/>
            <a:ext cx="73152" cy="16459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85D2DF-A2A6-C32D-81F8-61AEA65753F5}"/>
              </a:ext>
            </a:extLst>
          </p:cNvPr>
          <p:cNvSpPr/>
          <p:nvPr/>
        </p:nvSpPr>
        <p:spPr>
          <a:xfrm>
            <a:off x="685800" y="30175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27743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640F8-3EA7-DC93-6D4A-E45D9DCA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8F4C96-FD94-E72D-61CD-EFAA427C4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620128"/>
              </p:ext>
            </p:extLst>
          </p:nvPr>
        </p:nvGraphicFramePr>
        <p:xfrm>
          <a:off x="0" y="547141"/>
          <a:ext cx="2563814" cy="3382692"/>
        </p:xfrm>
        <a:graphic>
          <a:graphicData uri="http://schemas.openxmlformats.org/drawingml/2006/table">
            <a:tbl>
              <a:tblPr/>
              <a:tblGrid>
                <a:gridCol w="642170">
                  <a:extLst>
                    <a:ext uri="{9D8B030D-6E8A-4147-A177-3AD203B41FA5}">
                      <a16:colId xmlns:a16="http://schemas.microsoft.com/office/drawing/2014/main" val="2029188923"/>
                    </a:ext>
                  </a:extLst>
                </a:gridCol>
                <a:gridCol w="423248">
                  <a:extLst>
                    <a:ext uri="{9D8B030D-6E8A-4147-A177-3AD203B41FA5}">
                      <a16:colId xmlns:a16="http://schemas.microsoft.com/office/drawing/2014/main" val="3019604079"/>
                    </a:ext>
                  </a:extLst>
                </a:gridCol>
                <a:gridCol w="705413">
                  <a:extLst>
                    <a:ext uri="{9D8B030D-6E8A-4147-A177-3AD203B41FA5}">
                      <a16:colId xmlns:a16="http://schemas.microsoft.com/office/drawing/2014/main" val="367108494"/>
                    </a:ext>
                  </a:extLst>
                </a:gridCol>
                <a:gridCol w="792983">
                  <a:extLst>
                    <a:ext uri="{9D8B030D-6E8A-4147-A177-3AD203B41FA5}">
                      <a16:colId xmlns:a16="http://schemas.microsoft.com/office/drawing/2014/main" val="393583425"/>
                    </a:ext>
                  </a:extLst>
                </a:gridCol>
              </a:tblGrid>
              <a:tr h="84567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Sync Time</a:t>
                      </a:r>
                      <a:endParaRPr lang="en-CA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User Checks Again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Notice Inconsistency?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353787"/>
                  </a:ext>
                </a:extLst>
              </a:tr>
              <a:tr h="667920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Shopping cart</a:t>
                      </a:r>
                      <a:endParaRPr lang="en-CA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~100ms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Seconds later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✗ No</a:t>
                      </a:r>
                      <a:endParaRPr lang="en-CA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040374"/>
                  </a:ext>
                </a:extLst>
              </a:tr>
              <a:tr h="1023426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Social media likes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~1-2 sec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Minutes later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✗ No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626854"/>
                  </a:ext>
                </a:extLst>
              </a:tr>
              <a:tr h="845673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Bank balance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Immediately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✓ Yes → needs strong</a:t>
                      </a:r>
                      <a:endParaRPr lang="en-CA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7148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6D05D517-3FF0-13E5-95F2-1DF7A74C4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813" y="21351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2852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SLIDE 9: "User-Perceived Consistency"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User-Perceived Consistency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Subtitle: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clever insight that makes eventual consistency work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 visual - Timeline: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adds item          Sync completes         User refreshes page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│                       │                        │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▼                       ▼                        ▼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─────●━━━━━━━━━━━━━━━━━━━━━━━●────────────────────────●─────────►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│                       │                        │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└───────────────────────┘                        │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Inconsistency Window                          │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(hidden)                                │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                                      │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             └────────────────────────┘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                User never notices!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insight box: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"You don't need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consistency. You need consistency 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before the user looks again.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 bar: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"Design for human perception, not computer precision."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97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39EFE-3C19-327E-9DB9-B9E7A00A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567A3B-4D4B-CE0F-DAF4-365D9EE56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043789"/>
              </p:ext>
            </p:extLst>
          </p:nvPr>
        </p:nvGraphicFramePr>
        <p:xfrm>
          <a:off x="1195279" y="2561224"/>
          <a:ext cx="2766060" cy="1713865"/>
        </p:xfrm>
        <a:graphic>
          <a:graphicData uri="http://schemas.openxmlformats.org/drawingml/2006/table">
            <a:tbl>
              <a:tblPr/>
              <a:tblGrid>
                <a:gridCol w="670560">
                  <a:extLst>
                    <a:ext uri="{9D8B030D-6E8A-4147-A177-3AD203B41FA5}">
                      <a16:colId xmlns:a16="http://schemas.microsoft.com/office/drawing/2014/main" val="190627250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290155843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Parameter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Meaning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70026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Number of copies (replicas) of your data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761534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How many must confirm a write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80869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How many you ask when reading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61310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52D533-9392-4A93-94B1-6BC267A4A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096741"/>
              </p:ext>
            </p:extLst>
          </p:nvPr>
        </p:nvGraphicFramePr>
        <p:xfrm>
          <a:off x="5273349" y="2202665"/>
          <a:ext cx="2240280" cy="184912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1973248816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2736309688"/>
                    </a:ext>
                  </a:extLst>
                </a:gridCol>
                <a:gridCol w="236220">
                  <a:extLst>
                    <a:ext uri="{9D8B030D-6E8A-4147-A177-3AD203B41FA5}">
                      <a16:colId xmlns:a16="http://schemas.microsoft.com/office/drawing/2014/main" val="3572794192"/>
                    </a:ext>
                  </a:extLst>
                </a:gridCol>
                <a:gridCol w="205740">
                  <a:extLst>
                    <a:ext uri="{9D8B030D-6E8A-4147-A177-3AD203B41FA5}">
                      <a16:colId xmlns:a16="http://schemas.microsoft.com/office/drawing/2014/main" val="3138017381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391921321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596142892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Goal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W+R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Result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869885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Fast writes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≤ 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Eventual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739649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Balanced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&gt; 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Strong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31815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Fast reads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&gt; 3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Strong</a:t>
                      </a:r>
                      <a:endParaRPr lang="en-CA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644615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F20F13EB-C7FE-19EC-BB42-2C81BDA23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098" y="668793"/>
            <a:ext cx="3913251" cy="1636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2852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SLIDE 8: "The Tuning Knobs"</a:t>
            </a:r>
            <a:endParaRPr kumimoji="0" lang="en-US" altLang="en-US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Tuning Knobs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Subtitle: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How Amazon actually configures consistency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Left side - The Parameters: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Right side - The Rule: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 + R &gt; N → Strong Consistency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(Reads and writes always overlap)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 + R ≤ N → Eventual Consistency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(Might read from a node that hasn't synced)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 section - Example Configurations: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 bar: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"Dynamo lets each Amazon team choose their own N, W, R values."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841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F191-C173-95DB-484B-AB07D17D4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A59B43-1E7E-1B67-542C-98657F0F2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727089"/>
              </p:ext>
            </p:extLst>
          </p:nvPr>
        </p:nvGraphicFramePr>
        <p:xfrm>
          <a:off x="68330" y="1240953"/>
          <a:ext cx="4465320" cy="3100705"/>
        </p:xfrm>
        <a:graphic>
          <a:graphicData uri="http://schemas.openxmlformats.org/drawingml/2006/table">
            <a:tbl>
              <a:tblPr/>
              <a:tblGrid>
                <a:gridCol w="1531620">
                  <a:extLst>
                    <a:ext uri="{9D8B030D-6E8A-4147-A177-3AD203B41FA5}">
                      <a16:colId xmlns:a16="http://schemas.microsoft.com/office/drawing/2014/main" val="3294054765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2258655584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354641913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Model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Why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41792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🛒 Shopping Cart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Eventual (AP)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Never reject an "add to cart"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982028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💳 Checkout / Payment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Strong (CP)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Can't double-charge or lose orders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945379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⭐ Product Reviews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Eventual (AP)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Slight delay showing new reviews is fine</a:t>
                      </a:r>
                      <a:endParaRPr lang="en-US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127934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📦 Inventory Count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Strong (CP)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Can't oversell items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772255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👥 "Customers also bought"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Eventual (AP)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Recommendations can lag behind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497037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📄 Order History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Eventual (AP)</a:t>
                      </a:r>
                      <a:endParaRPr lang="en-CA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Viewing past orders can tolerate delay</a:t>
                      </a:r>
                      <a:endParaRPr lang="en-US" dirty="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22032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C034C72-21F7-56C8-3640-AD6D9E549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350" y="45412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2852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SLIDE 10: "One App, Many Choices"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One App, Many Choices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Subtitle: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Amazon uses different consistency models for different features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 table: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 bar: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"It's not one-size-fits-all — you choose per feature, based on what matters most."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71E00ED-AC00-F82B-C359-7CD08F44F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80740" y="4486483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39611FF-D40B-8084-D9F5-936EB2B9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5" y="148933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384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scale, rare events become common — design for failure upfront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Theorem: Pick 2 of Consistency, Availability, Partition Tolerance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154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 consistency enables high availability in distributed systems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consistency model based on application requirements</a:t>
            </a:r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B16EDB3-D677-D264-1AC6-3B4D4271F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8DACC-A4DA-371E-CB78-427280D4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92EF256-B233-A919-AE5D-40375A60E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2000" y="0"/>
            <a:ext cx="5811061" cy="5143500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EDAD93C9-1823-9621-0B8E-680A9884EB23}"/>
              </a:ext>
            </a:extLst>
          </p:cNvPr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AE97A9-02A2-73DE-9BDB-76BEBCF1F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9061" y="0"/>
            <a:ext cx="5811061" cy="5143500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F4393EA1-4299-4242-12AC-C5D542FA4B13}"/>
              </a:ext>
            </a:extLst>
          </p:cNvPr>
          <p:cNvSpPr/>
          <p:nvPr/>
        </p:nvSpPr>
        <p:spPr>
          <a:xfrm>
            <a:off x="290901" y="1998345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>
            <a:scene3d>
              <a:camera prst="isometricOffAxis2Left"/>
              <a:lightRig rig="threePt" dir="t"/>
            </a:scene3d>
          </a:bodyPr>
          <a:lstStyle/>
          <a:p>
            <a:pPr marL="0" indent="0" algn="ctr">
              <a:buNone/>
            </a:pPr>
            <a:r>
              <a:rPr lang="en-US" sz="6000" b="1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000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02943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974</Words>
  <Application>Microsoft Office PowerPoint</Application>
  <PresentationFormat>On-screen Show (16:9)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Eventually Consistent</dc:title>
  <dc:subject>PptxGenJS Presentation</dc:subject>
  <dc:creator>Zain and Marek</dc:creator>
  <cp:lastModifiedBy>Zain Choudhry</cp:lastModifiedBy>
  <cp:revision>6</cp:revision>
  <dcterms:created xsi:type="dcterms:W3CDTF">2026-03-13T03:54:04Z</dcterms:created>
  <dcterms:modified xsi:type="dcterms:W3CDTF">2026-03-13T18:47:24Z</dcterms:modified>
</cp:coreProperties>
</file>