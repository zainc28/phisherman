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7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BBFF57-6A8F-4A78-92DE-7309E69BD36A}" v="4" dt="2026-03-13T16:50:08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07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48C4A-DDA0-F463-6CA6-E3A66FB8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3EA6FF-EA3A-8E1E-ADC8-DDD1C8CBA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3911D-E992-8791-C305-95EC5893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A0CFD-5AC9-0A8A-49C7-4FE535C1A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Eventually Consistent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 and Marek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0021" y="4206240"/>
            <a:ext cx="1371600" cy="73152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109728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7223760" y="731520"/>
            <a:ext cx="731520" cy="7315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5669280" y="1828800"/>
            <a:ext cx="82296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6675120" y="1645920"/>
            <a:ext cx="128016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6217920" y="2743200"/>
            <a:ext cx="914400" cy="10972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7315200" y="2651760"/>
            <a:ext cx="1097280" cy="8229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731520" cy="91440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6858000" y="3657600"/>
            <a:ext cx="1371600" cy="91440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7772400" y="1371600"/>
            <a:ext cx="731520" cy="10972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Scale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systems like Amazon: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inconsistent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be unavailable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go down from network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achieving all three at once is... impossible.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a billion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common when processing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97BC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TRILLIONS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840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 events happen constantly at scale.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design for them upfront.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10A37C-402F-0C3C-5A68-BD9C7D4E0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CAP</a:t>
            </a:r>
            <a:endParaRPr lang="en-US" sz="4000" dirty="0"/>
          </a:p>
          <a:p>
            <a:pPr marL="0" indent="0">
              <a:buNone/>
            </a:pPr>
            <a:r>
              <a:rPr lang="en-US" sz="40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Theorem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Brewer, PODC 2000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Formalized by Gilbert &amp; Lynch, 2002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73152" cy="1645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these three properties, distributed systems can only guarantee two at any given time: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82296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 dirty="0"/>
          </a:p>
        </p:txBody>
      </p:sp>
      <p:sp>
        <p:nvSpPr>
          <p:cNvPr id="8" name="Text 6"/>
          <p:cNvSpPr/>
          <p:nvPr/>
        </p:nvSpPr>
        <p:spPr>
          <a:xfrm>
            <a:off x="6309360" y="822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852160" y="320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724912"/>
            <a:ext cx="731520" cy="73152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120640" y="2724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54880" y="35021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724912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7498080" y="27249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E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350215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5852160" y="1554480"/>
            <a:ext cx="822960" cy="1444751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675120" y="1554480"/>
            <a:ext cx="822960" cy="1444752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5852160" y="2999232"/>
            <a:ext cx="1645920" cy="0"/>
          </a:xfrm>
          <a:prstGeom prst="line">
            <a:avLst/>
          </a:prstGeom>
          <a:noFill/>
          <a:ln w="254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must choose which property to sacrifice based on your application needs.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 Tradeoffs in Practice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Partition Tolerance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Availability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network partitions occur, system may reject writes to maintain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MongoDB, HBase, Redis Cluster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+ Partition Tolerance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Consistency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stays available, but reads may return stale data temporarily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Cassandra, DynamoDB, CouchDB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097280"/>
            <a:ext cx="25603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35508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+ Availability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Sacrifices: Partition Tolerance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works when network is reliable (single node or LAN)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RDBMS (single node PostgreSQL, MySQL)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B4C3B4D-7FCD-D79E-0E21-CCE073182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Consistency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91440" cy="118872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Consistency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an update completes, any subsequent read by any process returns the updated value. Everyone sees the same data immediately.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91440" cy="11887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Consistency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does not guarantee subsequent reads return the updated value. Certain conditions must be met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91440" cy="1280160"/>
          </a:xfrm>
          <a:prstGeom prst="rect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886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(Our Focus)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new updates are made, eventually all reads will return the last updated value. The time between update and universal visibility is the "inconsistency window."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E3694E-F7D3-C99F-1312-5ABF8573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Eventual Consistency Variations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Consistency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Process A tells Process B about an update, B will see that update. Causally-related operations appear in order.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Read-Your-Writes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 always sees its own updates. You won't write something and then read an old value.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924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session, read-your-writes is guaranteed. New sessions start fresh.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52344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663440" y="2752344"/>
            <a:ext cx="4023360" cy="54864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846320" y="29352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Monotonic Reads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392424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you've seen a value, you'll never see an older value in subsequent reads.</a:t>
            </a:r>
            <a:endParaRPr lang="en-US" sz="12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BD96961F-D36A-7E29-EC46-0E4142352CFA}"/>
              </a:ext>
            </a:extLst>
          </p:cNvPr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pPr algn="ctr"/>
            <a:r>
              <a:rPr lang="en-US" sz="12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practical: Monotonic Reads + Read-Your-Writes – simplifies application development while allowing high availability.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"Eventual Consistency"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"consistency later" actually mean?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254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"Blue Jacket"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200400" cy="274320"/>
          </a:xfrm>
          <a:prstGeom prst="rect">
            <a:avLst/>
          </a:prstGeom>
          <a:solidFill>
            <a:srgbClr val="FFECB3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182880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Inconsistency Window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57843" y="229743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users might not see the jacket yet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365760" cy="365760"/>
          </a:xfrm>
          <a:prstGeom prst="ellipse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syncing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331720"/>
            <a:ext cx="21031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9436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Everyone sees "Blue Jacket"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59764" y="391055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use this! DNS (the internet's address book) is eventually consistent — updates take hours to spread worldwide.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2517" y="2331720"/>
            <a:ext cx="17261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Eventually Consistent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Controlling the Tradeoff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just "all or nothing." You can tune HOW consistent you want to be.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Setup: Your shopping cart is copied to 3 data centers (for backup)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182880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1508760"/>
            <a:ext cx="1463040" cy="640080"/>
          </a:xfrm>
          <a:prstGeom prst="rect">
            <a:avLst/>
          </a:prstGeom>
          <a:solidFill>
            <a:srgbClr val="4A7C4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852160" y="1508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How many data centers must confirm before we tell the customer "Success"?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2697480" cy="4114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(1 of 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⚡⚡⚡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Instant response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Other data centers might be behind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697480" cy="4114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29184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(2 of 3)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🛡️🛡️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Pretty fast + some redundancy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Small chance of stale reads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8346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9748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6126480" y="28346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(3 of 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 ⚡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611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🛡️🛡️🛡️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8862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copies guaranteed in sync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4160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Slower, fails if any DC is down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configurable per application. A shopping cart might use "Fast" — a banking app might use "Safe".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World: Amazon's Shopping Cart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Amazon chose eventual consistency (AP) over strong consistency (CP)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solidFill>
            <a:srgbClr val="4A7C4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Normal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adds items to cart.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centers stay in sync.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Shoes, 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(synced everywhere)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0040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Network Partition!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can't talk to each other.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system: REJECT the add.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system: ACCEPT it anyway!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+ Jacket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(saved locally, will sync later)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743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6035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Network Heals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reconnect.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 MERGES the carts.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 lost!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Shoes, Hat, Jacket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items preserved)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114800" cy="91440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Amazon's Choice: AP (Availability)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customer should ALWAYS be able to add to cart, even if we show slightly stale data."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794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Text 24"/>
          <p:cNvSpPr/>
          <p:nvPr/>
        </p:nvSpPr>
        <p:spPr>
          <a:xfrm>
            <a:off x="4800600" y="3886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CP (Consistency)?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Rejecting "Add to Cart" during network issues = lost sales = very bad for business.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Amazon Dynamo: configurable consistency that prioritizes availability for customer-facing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25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scale, rare events become common — design for failure upfront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Theorem: Pick 2 of Consistency, Availability, Partition Tolerance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Eventual consistency enables high availability in distributed systems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consistency model based on application requirements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B16EDB3-D677-D264-1AC6-3B4D4271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74312" y="-15208"/>
            <a:ext cx="849368" cy="10098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8DACC-A4DA-371E-CB78-427280D41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92EF256-B233-A919-AE5D-40375A60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2000" y="0"/>
            <a:ext cx="5811061" cy="514350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EDAD93C9-1823-9621-0B8E-680A9884EB23}"/>
              </a:ext>
            </a:extLst>
          </p:cNvPr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2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AE97A9-02A2-73DE-9BDB-76BEBCF1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39061" y="0"/>
            <a:ext cx="5811061" cy="514350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F4393EA1-4299-4242-12AC-C5D542FA4B13}"/>
              </a:ext>
            </a:extLst>
          </p:cNvPr>
          <p:cNvSpPr/>
          <p:nvPr/>
        </p:nvSpPr>
        <p:spPr>
          <a:xfrm>
            <a:off x="290901" y="1998345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>
            <a:scene3d>
              <a:camera prst="isometricOffAxis2Left"/>
              <a:lightRig rig="threePt" dir="t"/>
            </a:scene3d>
          </a:bodyPr>
          <a:lstStyle/>
          <a:p>
            <a:pPr marL="0" indent="0" algn="ctr">
              <a:buNone/>
            </a:pPr>
            <a:r>
              <a:rPr lang="en-US" sz="6000" b="1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294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846</Words>
  <Application>Microsoft Office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Eventually Consistent</dc:title>
  <dc:subject>PptxGenJS Presentation</dc:subject>
  <dc:creator>Zain and Marek</dc:creator>
  <cp:lastModifiedBy>Zain Choudhry</cp:lastModifiedBy>
  <cp:revision>4</cp:revision>
  <dcterms:created xsi:type="dcterms:W3CDTF">2026-03-13T03:54:04Z</dcterms:created>
  <dcterms:modified xsi:type="dcterms:W3CDTF">2026-03-13T16:52:34Z</dcterms:modified>
</cp:coreProperties>
</file>